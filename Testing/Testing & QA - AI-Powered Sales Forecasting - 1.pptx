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20840" cy="685800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1C222B"/>
          </a:solidFill>
          <a:ln/>
        </p:spPr>
      </p:sp>
      <p:sp>
        <p:nvSpPr>
          <p:cNvPr id="4" name="Shape 2"/>
          <p:cNvSpPr/>
          <p:nvPr/>
        </p:nvSpPr>
        <p:spPr>
          <a:xfrm>
            <a:off x="3931920" y="-1828800"/>
            <a:ext cx="2377440" cy="2377440"/>
          </a:xfrm>
          <a:prstGeom prst="ellipse">
            <a:avLst/>
          </a:prstGeom>
          <a:solidFill>
            <a:srgbClr val="1C22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FORECASTING PLATFORM — PROJECT DOCUMENTATION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143000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AI-Powered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Intelligent Sales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Forecasting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272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Quality Assurance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3703320"/>
            <a:ext cx="1005840" cy="0"/>
          </a:xfrm>
          <a:prstGeom prst="line">
            <a:avLst/>
          </a:prstGeom>
          <a:noFill/>
          <a:ln w="25400">
            <a:solidFill>
              <a:srgbClr val="00BF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8862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documentation prepared by the Testing / QA team member, covering functional, backend API, AI-output, and integration testing performed on the platform.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PROJECT — GITHUB DOCUMENTATION SET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59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WORK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19786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DCE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955280" y="1307592"/>
            <a:ext cx="457200" cy="457200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4" name="Image 0" descr="icons/functio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08" y="1417320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595360" y="12344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Testing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223760" y="2075688"/>
            <a:ext cx="489204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23760" y="222199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DCE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955280" y="2331720"/>
            <a:ext cx="457200" cy="457200"/>
          </a:xfrm>
          <a:prstGeom prst="ellipse">
            <a:avLst/>
          </a:prstGeom>
          <a:solidFill>
            <a:srgbClr val="00BFA6"/>
          </a:solidFill>
          <a:ln/>
        </p:spPr>
      </p:sp>
      <p:pic>
        <p:nvPicPr>
          <p:cNvPr id="19" name="Image 1" descr="icons/back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08" y="2441448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595360" y="22585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 Testing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7223760" y="3099816"/>
            <a:ext cx="489204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223760" y="3246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DCE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7955280" y="3355848"/>
            <a:ext cx="457200" cy="457200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4" name="Image 2" descr="icons/a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3465576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595360" y="328269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Output Validation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7223760" y="4123944"/>
            <a:ext cx="489204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223760" y="427024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DCE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7955280" y="4379976"/>
            <a:ext cx="457200" cy="457200"/>
          </a:xfrm>
          <a:prstGeom prst="ellipse">
            <a:avLst/>
          </a:prstGeom>
          <a:solidFill>
            <a:srgbClr val="00BFA6"/>
          </a:solidFill>
          <a:ln/>
        </p:spPr>
      </p:sp>
      <p:pic>
        <p:nvPicPr>
          <p:cNvPr id="29" name="Image 3" descr="icons/integr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4489704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595360" y="430682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Testing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7223760" y="5148072"/>
            <a:ext cx="489204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223760" y="529437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DCE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2200" dirty="0"/>
          </a:p>
        </p:txBody>
      </p:sp>
      <p:sp>
        <p:nvSpPr>
          <p:cNvPr id="33" name="Shape 27"/>
          <p:cNvSpPr/>
          <p:nvPr/>
        </p:nvSpPr>
        <p:spPr>
          <a:xfrm>
            <a:off x="7955280" y="5404104"/>
            <a:ext cx="457200" cy="457200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34" name="Image 4" descr="icons/resul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08" y="5513832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595360" y="53309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Results &amp; Verification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6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Testing Approach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3816" y="1865376"/>
            <a:ext cx="0" cy="3584448"/>
          </a:xfrm>
          <a:prstGeom prst="line">
            <a:avLst/>
          </a:prstGeom>
          <a:noFill/>
          <a:ln w="25400">
            <a:solidFill>
              <a:srgbClr val="E2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0352" cy="530352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6" name="Image 0" descr="icons/requir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5819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205740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496312"/>
            <a:ext cx="530352" cy="530352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0" name="Image 1" descr="icons/test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3347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24780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603504" y="295351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392424"/>
            <a:ext cx="530352" cy="530352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4" name="Image 2" descr="icons/exec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2958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25880" y="337413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603504" y="384962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288536"/>
            <a:ext cx="530352" cy="530352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8" name="Image 3" descr="icons/verif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425696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25880" y="42702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450" dirty="0"/>
          </a:p>
        </p:txBody>
      </p:sp>
      <p:sp>
        <p:nvSpPr>
          <p:cNvPr id="20" name="Text 14"/>
          <p:cNvSpPr txBox="1"/>
          <p:nvPr/>
        </p:nvSpPr>
        <p:spPr>
          <a:xfrm>
            <a:off x="603504" y="4745736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48640" y="5184648"/>
            <a:ext cx="530352" cy="530352"/>
          </a:xfrm>
          <a:prstGeom prst="ellipse">
            <a:avLst/>
          </a:prstGeom>
          <a:solidFill>
            <a:srgbClr val="00BFA6"/>
          </a:solidFill>
          <a:ln/>
        </p:spPr>
      </p:sp>
      <p:pic>
        <p:nvPicPr>
          <p:cNvPr id="22" name="Image 4" descr="icons/reco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321808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25880" y="5166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Result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4434840" y="1600200"/>
            <a:ext cx="0" cy="457200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4800600" y="16002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focused on the following functional areas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4800600" y="2148840"/>
            <a:ext cx="66751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0"/>
          <p:cNvSpPr/>
          <p:nvPr/>
        </p:nvSpPr>
        <p:spPr>
          <a:xfrm>
            <a:off x="4983480" y="2340864"/>
            <a:ext cx="274320" cy="274320"/>
          </a:xfrm>
          <a:prstGeom prst="ellipse">
            <a:avLst/>
          </a:prstGeom>
          <a:solidFill>
            <a:srgbClr val="12161C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4983480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29" name="Text 22"/>
          <p:cNvSpPr txBox="1"/>
          <p:nvPr/>
        </p:nvSpPr>
        <p:spPr>
          <a:xfrm>
            <a:off x="5440680" y="214884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creation and management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4800600" y="2807208"/>
            <a:ext cx="6675120" cy="65836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1" name="Shape 24"/>
          <p:cNvSpPr/>
          <p:nvPr/>
        </p:nvSpPr>
        <p:spPr>
          <a:xfrm>
            <a:off x="4983480" y="2999232"/>
            <a:ext cx="274320" cy="274320"/>
          </a:xfrm>
          <a:prstGeom prst="ellipse">
            <a:avLst/>
          </a:prstGeom>
          <a:solidFill>
            <a:srgbClr val="12161C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498348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33" name="Text 26"/>
          <p:cNvSpPr txBox="1"/>
          <p:nvPr/>
        </p:nvSpPr>
        <p:spPr>
          <a:xfrm>
            <a:off x="5440680" y="280720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scoring and qualification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4800600" y="3465576"/>
            <a:ext cx="66751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8"/>
          <p:cNvSpPr/>
          <p:nvPr/>
        </p:nvSpPr>
        <p:spPr>
          <a:xfrm>
            <a:off x="4983480" y="3657600"/>
            <a:ext cx="274320" cy="274320"/>
          </a:xfrm>
          <a:prstGeom prst="ellipse">
            <a:avLst/>
          </a:prstGeom>
          <a:solidFill>
            <a:srgbClr val="12161C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498348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0" dirty="0"/>
          </a:p>
        </p:txBody>
      </p:sp>
      <p:sp>
        <p:nvSpPr>
          <p:cNvPr id="37" name="Text 30"/>
          <p:cNvSpPr txBox="1"/>
          <p:nvPr/>
        </p:nvSpPr>
        <p:spPr>
          <a:xfrm>
            <a:off x="5440680" y="3465576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summaries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4800600" y="4123944"/>
            <a:ext cx="6675120" cy="65836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9" name="Shape 32"/>
          <p:cNvSpPr/>
          <p:nvPr/>
        </p:nvSpPr>
        <p:spPr>
          <a:xfrm>
            <a:off x="4983480" y="4315968"/>
            <a:ext cx="274320" cy="274320"/>
          </a:xfrm>
          <a:prstGeom prst="ellipse">
            <a:avLst/>
          </a:prstGeom>
          <a:solidFill>
            <a:srgbClr val="12161C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4983480" y="4315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50" dirty="0"/>
          </a:p>
        </p:txBody>
      </p:sp>
      <p:sp>
        <p:nvSpPr>
          <p:cNvPr id="41" name="Text 34"/>
          <p:cNvSpPr txBox="1"/>
          <p:nvPr/>
        </p:nvSpPr>
        <p:spPr>
          <a:xfrm>
            <a:off x="5440680" y="4123944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email generation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4800600" y="4782312"/>
            <a:ext cx="66751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36"/>
          <p:cNvSpPr/>
          <p:nvPr/>
        </p:nvSpPr>
        <p:spPr>
          <a:xfrm>
            <a:off x="4983480" y="4974336"/>
            <a:ext cx="274320" cy="274320"/>
          </a:xfrm>
          <a:prstGeom prst="ellipse">
            <a:avLst/>
          </a:prstGeom>
          <a:solidFill>
            <a:srgbClr val="12161C"/>
          </a:solidFill>
          <a:ln/>
        </p:spPr>
      </p:sp>
      <p:sp>
        <p:nvSpPr>
          <p:cNvPr id="44" name="Text 37"/>
          <p:cNvSpPr txBox="1"/>
          <p:nvPr/>
        </p:nvSpPr>
        <p:spPr>
          <a:xfrm>
            <a:off x="4983480" y="4974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50" dirty="0"/>
          </a:p>
        </p:txBody>
      </p:sp>
      <p:sp>
        <p:nvSpPr>
          <p:cNvPr id="45" name="Text 38"/>
          <p:cNvSpPr txBox="1"/>
          <p:nvPr/>
        </p:nvSpPr>
        <p:spPr>
          <a:xfrm>
            <a:off x="5440680" y="4782312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CRM-related operations</a:t>
            </a:r>
            <a:endParaRPr lang="en-US" sz="1300" dirty="0"/>
          </a:p>
        </p:txBody>
      </p:sp>
      <p:sp>
        <p:nvSpPr>
          <p:cNvPr id="46" name="Shape 39"/>
          <p:cNvSpPr/>
          <p:nvPr/>
        </p:nvSpPr>
        <p:spPr>
          <a:xfrm>
            <a:off x="4800600" y="5440680"/>
            <a:ext cx="6675120" cy="65836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7" name="Shape 40"/>
          <p:cNvSpPr/>
          <p:nvPr/>
        </p:nvSpPr>
        <p:spPr>
          <a:xfrm>
            <a:off x="4983480" y="5632704"/>
            <a:ext cx="274320" cy="274320"/>
          </a:xfrm>
          <a:prstGeom prst="ellipse">
            <a:avLst/>
          </a:prstGeom>
          <a:solidFill>
            <a:srgbClr val="12161C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4983480" y="5632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50" dirty="0"/>
          </a:p>
        </p:txBody>
      </p:sp>
      <p:sp>
        <p:nvSpPr>
          <p:cNvPr id="49" name="Text 42"/>
          <p:cNvSpPr txBox="1"/>
          <p:nvPr/>
        </p:nvSpPr>
        <p:spPr>
          <a:xfrm>
            <a:off x="5440680" y="544068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request/response validation</a:t>
            </a:r>
            <a:endParaRPr lang="en-US" sz="1300" dirty="0"/>
          </a:p>
        </p:txBody>
      </p:sp>
      <p:sp>
        <p:nvSpPr>
          <p:cNvPr id="50" name="Shape 43"/>
          <p:cNvSpPr/>
          <p:nvPr/>
        </p:nvSpPr>
        <p:spPr>
          <a:xfrm>
            <a:off x="4800600" y="6099048"/>
            <a:ext cx="667512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Intelligent Sales Forecasting  •  Testing &amp; QA</a:t>
            </a:r>
            <a:endParaRPr lang="en-US" sz="850" dirty="0"/>
          </a:p>
        </p:txBody>
      </p:sp>
      <p:sp>
        <p:nvSpPr>
          <p:cNvPr id="52" name="Text 45"/>
          <p:cNvSpPr txBox="1"/>
          <p:nvPr/>
        </p:nvSpPr>
        <p:spPr>
          <a:xfrm>
            <a:off x="1078992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VALIDATION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6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Frontend / Functional Testing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81328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CAD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25880" y="1563624"/>
            <a:ext cx="347472" cy="347472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7" name="Image 0" descr="icons/cre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1645920"/>
            <a:ext cx="182880" cy="182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74520" y="1481328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and view leads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1993392"/>
            <a:ext cx="11064240" cy="5120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" y="199339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CAD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325880" y="2075688"/>
            <a:ext cx="347472" cy="347472"/>
          </a:xfrm>
          <a:prstGeom prst="ellipse">
            <a:avLst/>
          </a:prstGeom>
          <a:solidFill>
            <a:srgbClr val="00BFA6"/>
          </a:solidFill>
          <a:ln/>
        </p:spPr>
      </p:sp>
      <p:pic>
        <p:nvPicPr>
          <p:cNvPr id="12" name="Image 1" descr="icons/e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2157984"/>
            <a:ext cx="182880" cy="1828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74520" y="1993392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lead information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2505456"/>
            <a:ext cx="110642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85800" y="250545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CAD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1325880" y="2587752"/>
            <a:ext cx="347472" cy="347472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7" name="Image 2" descr="icons/tra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6" y="2670048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874520" y="2505456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leads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017520"/>
            <a:ext cx="11064240" cy="5120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85800" y="301752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CAD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1325880" y="3099816"/>
            <a:ext cx="347472" cy="347472"/>
          </a:xfrm>
          <a:prstGeom prst="ellipse">
            <a:avLst/>
          </a:prstGeom>
          <a:solidFill>
            <a:srgbClr val="00BFA6"/>
          </a:solidFill>
          <a:ln/>
        </p:spPr>
      </p:sp>
      <p:pic>
        <p:nvPicPr>
          <p:cNvPr id="22" name="Image 3" descr="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176" y="3182112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874520" y="3017520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filter lead data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3529584"/>
            <a:ext cx="110642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685800" y="3529584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CAD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1325880" y="3611880"/>
            <a:ext cx="347472" cy="347472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7" name="Image 4" descr="icons/vie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176" y="3694176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874520" y="3529584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lead scores and insights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548640" y="4041648"/>
            <a:ext cx="11064240" cy="5120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685800" y="4041648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CAD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1325880" y="4123944"/>
            <a:ext cx="347472" cy="347472"/>
          </a:xfrm>
          <a:prstGeom prst="ellipse">
            <a:avLst/>
          </a:prstGeom>
          <a:solidFill>
            <a:srgbClr val="00BFA6"/>
          </a:solidFill>
          <a:ln/>
        </p:spPr>
      </p:sp>
      <p:pic>
        <p:nvPicPr>
          <p:cNvPr id="32" name="Image 5" descr="icons/a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8176" y="4206240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874520" y="4041648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AI summaries/emails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548640" y="4553712"/>
            <a:ext cx="110642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685800" y="455371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CAD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1325880" y="4636008"/>
            <a:ext cx="347472" cy="347472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37" name="Image 6" descr="icons/syn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8176" y="4718304"/>
            <a:ext cx="182880" cy="18288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874520" y="4553712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UI response after backend operations</a:t>
            </a:r>
            <a:endParaRPr lang="en-US" sz="1350" dirty="0"/>
          </a:p>
        </p:txBody>
      </p:sp>
      <p:sp>
        <p:nvSpPr>
          <p:cNvPr id="39" name="Shape 30"/>
          <p:cNvSpPr/>
          <p:nvPr/>
        </p:nvSpPr>
        <p:spPr>
          <a:xfrm>
            <a:off x="548640" y="5065776"/>
            <a:ext cx="1106424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0" y="6080760"/>
            <a:ext cx="12188952" cy="77724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548640" y="6080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functionality was verified across the tested workflows.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VALIDATION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16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Backend API Testing with Swagger UI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3385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APIs exposed by the platform were tested directly through Swagger UI, covering request validation, execution, and response verification for each endpoint.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15184" cy="96012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82296" cy="9601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185623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18562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402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Lead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64992" y="1691640"/>
            <a:ext cx="2615184" cy="96012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1691640"/>
            <a:ext cx="82296" cy="960120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12" name="Shape 10"/>
          <p:cNvSpPr/>
          <p:nvPr/>
        </p:nvSpPr>
        <p:spPr>
          <a:xfrm>
            <a:off x="3584448" y="185623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84448" y="18562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584448" y="22402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Lead(s)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81344" y="1691640"/>
            <a:ext cx="2615184" cy="96012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81344" y="1691640"/>
            <a:ext cx="82296" cy="960120"/>
          </a:xfrm>
          <a:prstGeom prst="rect">
            <a:avLst/>
          </a:prstGeom>
          <a:solidFill>
            <a:srgbClr val="C97A1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185623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C97A1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0" y="18562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2402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Lead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997696" y="1691640"/>
            <a:ext cx="2615184" cy="96012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97696" y="1691640"/>
            <a:ext cx="82296" cy="960120"/>
          </a:xfrm>
          <a:prstGeom prst="rect">
            <a:avLst/>
          </a:prstGeom>
          <a:solidFill>
            <a:srgbClr val="B3382C"/>
          </a:solidFill>
          <a:ln/>
        </p:spPr>
      </p:sp>
      <p:sp>
        <p:nvSpPr>
          <p:cNvPr id="22" name="Shape 20"/>
          <p:cNvSpPr/>
          <p:nvPr/>
        </p:nvSpPr>
        <p:spPr>
          <a:xfrm>
            <a:off x="9217152" y="185623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B3382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17152" y="18562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217152" y="22402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Lead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2926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CHECKS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337560"/>
            <a:ext cx="3246120" cy="457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456432"/>
            <a:ext cx="219456" cy="219456"/>
          </a:xfrm>
          <a:prstGeom prst="ellipse">
            <a:avLst/>
          </a:prstGeom>
          <a:solidFill>
            <a:srgbClr val="00BFA6"/>
          </a:solidFill>
          <a:ln/>
        </p:spPr>
      </p:sp>
      <p:pic>
        <p:nvPicPr>
          <p:cNvPr id="28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3493008"/>
            <a:ext cx="146304" cy="146304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005840" y="3337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validation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3904488"/>
            <a:ext cx="3246120" cy="457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1" name="Shape 28"/>
          <p:cNvSpPr/>
          <p:nvPr/>
        </p:nvSpPr>
        <p:spPr>
          <a:xfrm>
            <a:off x="685800" y="4023360"/>
            <a:ext cx="219456" cy="219456"/>
          </a:xfrm>
          <a:prstGeom prst="ellipse">
            <a:avLst/>
          </a:prstGeom>
          <a:solidFill>
            <a:srgbClr val="00BFA6"/>
          </a:solidFill>
          <a:ln/>
        </p:spPr>
      </p:sp>
      <p:pic>
        <p:nvPicPr>
          <p:cNvPr id="32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4059936"/>
            <a:ext cx="146304" cy="14630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1005840" y="39044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status codes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548640" y="4471416"/>
            <a:ext cx="3246120" cy="457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5" name="Shape 31"/>
          <p:cNvSpPr/>
          <p:nvPr/>
        </p:nvSpPr>
        <p:spPr>
          <a:xfrm>
            <a:off x="685800" y="4590288"/>
            <a:ext cx="219456" cy="219456"/>
          </a:xfrm>
          <a:prstGeom prst="ellipse">
            <a:avLst/>
          </a:prstGeom>
          <a:solidFill>
            <a:srgbClr val="00BFA6"/>
          </a:solidFill>
          <a:ln/>
        </p:spPr>
      </p:sp>
      <p:pic>
        <p:nvPicPr>
          <p:cNvPr id="36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626864"/>
            <a:ext cx="146304" cy="146304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1005840" y="447141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response data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4114800" y="2926080"/>
            <a:ext cx="7498080" cy="3429000"/>
          </a:xfrm>
          <a:prstGeom prst="rect">
            <a:avLst/>
          </a:prstGeom>
          <a:solidFill>
            <a:srgbClr val="F4F6F8"/>
          </a:solidFill>
          <a:ln w="19050">
            <a:solidFill>
              <a:srgbClr val="2F6FED"/>
            </a:solidFill>
            <a:prstDash val="dash"/>
          </a:ln>
        </p:spPr>
      </p:sp>
      <p:sp>
        <p:nvSpPr>
          <p:cNvPr id="39" name="Text 34"/>
          <p:cNvSpPr txBox="1"/>
          <p:nvPr/>
        </p:nvSpPr>
        <p:spPr>
          <a:xfrm>
            <a:off x="438912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UI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7516368" y="3927348"/>
            <a:ext cx="694944" cy="694944"/>
          </a:xfrm>
          <a:prstGeom prst="ellipse">
            <a:avLst/>
          </a:prstGeom>
          <a:solidFill>
            <a:srgbClr val="E4E9EF"/>
          </a:solidFill>
          <a:ln/>
        </p:spPr>
      </p:sp>
      <p:pic>
        <p:nvPicPr>
          <p:cNvPr id="41" name="Image 3" descr="icons/back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4091940"/>
            <a:ext cx="365760" cy="36576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4480560" y="465886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 for Swagger UI Screenshots</a:t>
            </a:r>
            <a:endParaRPr lang="en-US" sz="1450" dirty="0"/>
          </a:p>
        </p:txBody>
      </p:sp>
      <p:sp>
        <p:nvSpPr>
          <p:cNvPr id="43" name="Text 37"/>
          <p:cNvSpPr txBox="1"/>
          <p:nvPr/>
        </p:nvSpPr>
        <p:spPr>
          <a:xfrm>
            <a:off x="4663440" y="502462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endpoint execution screenshots (request, response body, status code) here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Intelligent Sales Forecasting  •  Testing &amp; QA</a:t>
            </a:r>
            <a:endParaRPr lang="en-US" sz="850" dirty="0"/>
          </a:p>
        </p:txBody>
      </p:sp>
      <p:sp>
        <p:nvSpPr>
          <p:cNvPr id="45" name="Text 39"/>
          <p:cNvSpPr txBox="1"/>
          <p:nvPr/>
        </p:nvSpPr>
        <p:spPr>
          <a:xfrm>
            <a:off x="1078992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6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Test Cases &amp; Results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6916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20" kern="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64240" cy="0"/>
          </a:xfrm>
          <a:prstGeom prst="line">
            <a:avLst/>
          </a:prstGeom>
          <a:noFill/>
          <a:ln w="25400">
            <a:solidFill>
              <a:srgbClr val="12161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Lead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14884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created successfully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177272" y="2322576"/>
            <a:ext cx="219456" cy="219456"/>
          </a:xfrm>
          <a:prstGeom prst="ellipse">
            <a:avLst/>
          </a:prstGeom>
          <a:solidFill>
            <a:srgbClr val="1F9D66"/>
          </a:solidFill>
          <a:ln/>
        </p:spPr>
      </p:sp>
      <p:pic>
        <p:nvPicPr>
          <p:cNvPr id="11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3848" y="2359152"/>
            <a:ext cx="146304" cy="14630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469880" y="214884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2715768"/>
            <a:ext cx="1106424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7157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Leads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271576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data returned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177272" y="2889504"/>
            <a:ext cx="219456" cy="219456"/>
          </a:xfrm>
          <a:prstGeom prst="ellipse">
            <a:avLst/>
          </a:prstGeom>
          <a:solidFill>
            <a:srgbClr val="1F9D66"/>
          </a:solidFill>
          <a:ln/>
        </p:spPr>
      </p:sp>
      <p:pic>
        <p:nvPicPr>
          <p:cNvPr id="17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848" y="2926080"/>
            <a:ext cx="146304" cy="14630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469880" y="271576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48640" y="3282696"/>
            <a:ext cx="1106424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48640" y="328269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Lead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3840480" y="3282696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information updated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0177272" y="3456432"/>
            <a:ext cx="219456" cy="219456"/>
          </a:xfrm>
          <a:prstGeom prst="ellipse">
            <a:avLst/>
          </a:prstGeom>
          <a:solidFill>
            <a:srgbClr val="1F9D66"/>
          </a:solidFill>
          <a:ln/>
        </p:spPr>
      </p:sp>
      <p:pic>
        <p:nvPicPr>
          <p:cNvPr id="2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3493008"/>
            <a:ext cx="146304" cy="14630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0469880" y="328269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548640" y="3849624"/>
            <a:ext cx="1106424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48640" y="38496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Lead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3840480" y="3849624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removed successfully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10177272" y="4023360"/>
            <a:ext cx="219456" cy="219456"/>
          </a:xfrm>
          <a:prstGeom prst="ellipse">
            <a:avLst/>
          </a:prstGeom>
          <a:solidFill>
            <a:srgbClr val="1F9D66"/>
          </a:solidFill>
          <a:ln/>
        </p:spPr>
      </p:sp>
      <p:pic>
        <p:nvPicPr>
          <p:cNvPr id="29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3848" y="4059936"/>
            <a:ext cx="146304" cy="14630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0469880" y="384962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548640" y="4416552"/>
            <a:ext cx="1106424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48640" y="44165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3840480" y="441655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data rejected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10177272" y="4590288"/>
            <a:ext cx="219456" cy="219456"/>
          </a:xfrm>
          <a:prstGeom prst="ellipse">
            <a:avLst/>
          </a:prstGeom>
          <a:solidFill>
            <a:srgbClr val="1F9D66"/>
          </a:solidFill>
          <a:ln/>
        </p:spPr>
      </p:sp>
      <p:pic>
        <p:nvPicPr>
          <p:cNvPr id="3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3848" y="4626864"/>
            <a:ext cx="146304" cy="146304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0469880" y="441655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50" dirty="0"/>
          </a:p>
        </p:txBody>
      </p:sp>
      <p:sp>
        <p:nvSpPr>
          <p:cNvPr id="37" name="Shape 30"/>
          <p:cNvSpPr/>
          <p:nvPr/>
        </p:nvSpPr>
        <p:spPr>
          <a:xfrm>
            <a:off x="548640" y="4983480"/>
            <a:ext cx="1106424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48640" y="49834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Output Verification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3840480" y="498348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output generated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10177272" y="5157216"/>
            <a:ext cx="219456" cy="219456"/>
          </a:xfrm>
          <a:prstGeom prst="ellipse">
            <a:avLst/>
          </a:prstGeom>
          <a:solidFill>
            <a:srgbClr val="1F9D66"/>
          </a:solidFill>
          <a:ln/>
        </p:spPr>
      </p:sp>
      <p:pic>
        <p:nvPicPr>
          <p:cNvPr id="41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3848" y="5193792"/>
            <a:ext cx="146304" cy="146304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10469880" y="49834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50" dirty="0"/>
          </a:p>
        </p:txBody>
      </p:sp>
      <p:sp>
        <p:nvSpPr>
          <p:cNvPr id="43" name="Shape 35"/>
          <p:cNvSpPr/>
          <p:nvPr/>
        </p:nvSpPr>
        <p:spPr>
          <a:xfrm>
            <a:off x="548640" y="5550408"/>
            <a:ext cx="1106424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548640" y="5870448"/>
            <a:ext cx="54864" cy="5029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822960" y="587044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of 6 test cases passed — all tested workflows verified successfully.</a:t>
            </a:r>
            <a:endParaRPr lang="en-US" sz="1300" dirty="0"/>
          </a:p>
        </p:txBody>
      </p:sp>
      <p:sp>
        <p:nvSpPr>
          <p:cNvPr id="46" name="Text 3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Intelligent Sales Forecasting  •  Testing &amp; QA</a:t>
            </a:r>
            <a:endParaRPr lang="en-US" sz="850" dirty="0"/>
          </a:p>
        </p:txBody>
      </p:sp>
      <p:sp>
        <p:nvSpPr>
          <p:cNvPr id="47" name="Text 39"/>
          <p:cNvSpPr txBox="1"/>
          <p:nvPr/>
        </p:nvSpPr>
        <p:spPr>
          <a:xfrm>
            <a:off x="1078992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1C222B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1371600"/>
            <a:ext cx="3108960" cy="3108960"/>
          </a:xfrm>
          <a:prstGeom prst="ellipse">
            <a:avLst/>
          </a:prstGeom>
          <a:solidFill>
            <a:srgbClr val="1C22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Testing Outcome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636776"/>
            <a:ext cx="347472" cy="347472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7" name="Image 0" descr="icons/back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719072"/>
            <a:ext cx="182880" cy="182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157276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APIs verified through Swagger UI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048256"/>
            <a:ext cx="10881360" cy="0"/>
          </a:xfrm>
          <a:prstGeom prst="line">
            <a:avLst/>
          </a:prstGeom>
          <a:noFill/>
          <a:ln w="12700">
            <a:solidFill>
              <a:srgbClr val="2A32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112264"/>
            <a:ext cx="347472" cy="347472"/>
          </a:xfrm>
          <a:prstGeom prst="ellipse">
            <a:avLst/>
          </a:prstGeom>
          <a:solidFill>
            <a:srgbClr val="00BFA6"/>
          </a:solidFill>
          <a:ln/>
        </p:spPr>
      </p:sp>
      <p:pic>
        <p:nvPicPr>
          <p:cNvPr id="11" name="Image 1" descr="icons/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19456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" y="2048256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application workflows tested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40080" y="2523744"/>
            <a:ext cx="10881360" cy="0"/>
          </a:xfrm>
          <a:prstGeom prst="line">
            <a:avLst/>
          </a:prstGeom>
          <a:noFill/>
          <a:ln w="12700">
            <a:solidFill>
              <a:srgbClr val="2A324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2587752"/>
            <a:ext cx="347472" cy="347472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5" name="Image 2" descr="icons/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670048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252374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operations validated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40080" y="2999232"/>
            <a:ext cx="10881360" cy="0"/>
          </a:xfrm>
          <a:prstGeom prst="line">
            <a:avLst/>
          </a:prstGeom>
          <a:noFill/>
          <a:ln w="12700">
            <a:solidFill>
              <a:srgbClr val="2A324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0080" y="3063240"/>
            <a:ext cx="347472" cy="347472"/>
          </a:xfrm>
          <a:prstGeom prst="ellipse">
            <a:avLst/>
          </a:prstGeom>
          <a:solidFill>
            <a:srgbClr val="00BFA6"/>
          </a:solidFill>
          <a:ln/>
        </p:spPr>
      </p:sp>
      <p:pic>
        <p:nvPicPr>
          <p:cNvPr id="19" name="Image 3" descr="icons/a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145536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88720" y="2999232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outputs reviewed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40080" y="3474720"/>
            <a:ext cx="10881360" cy="0"/>
          </a:xfrm>
          <a:prstGeom prst="line">
            <a:avLst/>
          </a:prstGeom>
          <a:noFill/>
          <a:ln w="12700">
            <a:solidFill>
              <a:srgbClr val="2A324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0080" y="3538728"/>
            <a:ext cx="347472" cy="347472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3" name="Image 4" descr="icons/exch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621024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188720" y="347472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Frontend-backend integration verified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640080" y="3950208"/>
            <a:ext cx="10881360" cy="0"/>
          </a:xfrm>
          <a:prstGeom prst="line">
            <a:avLst/>
          </a:prstGeom>
          <a:noFill/>
          <a:ln w="12700">
            <a:solidFill>
              <a:srgbClr val="2A324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40080" y="4014216"/>
            <a:ext cx="347472" cy="347472"/>
          </a:xfrm>
          <a:prstGeom prst="ellipse">
            <a:avLst/>
          </a:prstGeom>
          <a:solidFill>
            <a:srgbClr val="00BFA6"/>
          </a:solidFill>
          <a:ln/>
        </p:spPr>
      </p:sp>
      <p:pic>
        <p:nvPicPr>
          <p:cNvPr id="27" name="Image 5" descr="icons/resul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4096512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188720" y="39502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results documented</a:t>
            </a:r>
            <a:endParaRPr lang="en-US" sz="1350" dirty="0"/>
          </a:p>
        </p:txBody>
      </p:sp>
      <p:sp>
        <p:nvSpPr>
          <p:cNvPr id="29" name="Shape 21"/>
          <p:cNvSpPr/>
          <p:nvPr/>
        </p:nvSpPr>
        <p:spPr>
          <a:xfrm>
            <a:off x="640080" y="4700016"/>
            <a:ext cx="10881360" cy="82296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960120" y="4700016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i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helped verify the functionality, reliability, and integration of the Sales Forecasting application.</a:t>
            </a:r>
            <a:endParaRPr lang="en-US" sz="1450" dirty="0"/>
          </a:p>
        </p:txBody>
      </p:sp>
      <p:sp>
        <p:nvSpPr>
          <p:cNvPr id="31" name="Text 23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Intelligent Sales Forecasting  •  Testing &amp; QA</a:t>
            </a:r>
            <a:endParaRPr lang="en-US" sz="850" dirty="0"/>
          </a:p>
        </p:txBody>
      </p:sp>
      <p:sp>
        <p:nvSpPr>
          <p:cNvPr id="32" name="Text 24"/>
          <p:cNvSpPr txBox="1"/>
          <p:nvPr/>
        </p:nvSpPr>
        <p:spPr>
          <a:xfrm>
            <a:off x="1078992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2026-09-01T11:44:52Z</dcterms:created>
  <dcterms:modified xsi:type="dcterms:W3CDTF">2026-09-01T11:44:52Z</dcterms:modified>
</cp:coreProperties>
</file>